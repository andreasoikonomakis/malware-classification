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8"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189789A-5C48-4ABC-9709-2AE449369026}" type="datetimeFigureOut">
              <a:rPr lang="en-US" smtClean="0"/>
              <a:t>14-Feb-21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07147E-B2A8-46A8-B074-924A07A977C5}" type="slidenum">
              <a:rPr lang="en-US" smtClean="0"/>
              <a:t>‹#›</a:t>
            </a:fld>
            <a:endParaRPr lang="en-US"/>
          </a:p>
        </p:txBody>
      </p:sp>
    </p:spTree>
    <p:extLst>
      <p:ext uri="{BB962C8B-B14F-4D97-AF65-F5344CB8AC3E}">
        <p14:creationId xmlns:p14="http://schemas.microsoft.com/office/powerpoint/2010/main" val="736751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189789A-5C48-4ABC-9709-2AE449369026}" type="datetimeFigureOut">
              <a:rPr lang="en-US" smtClean="0"/>
              <a:t>14-Feb-21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07147E-B2A8-46A8-B074-924A07A977C5}" type="slidenum">
              <a:rPr lang="en-US" smtClean="0"/>
              <a:t>‹#›</a:t>
            </a:fld>
            <a:endParaRPr lang="en-US"/>
          </a:p>
        </p:txBody>
      </p:sp>
    </p:spTree>
    <p:extLst>
      <p:ext uri="{BB962C8B-B14F-4D97-AF65-F5344CB8AC3E}">
        <p14:creationId xmlns:p14="http://schemas.microsoft.com/office/powerpoint/2010/main" val="3267761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89789A-5C48-4ABC-9709-2AE449369026}" type="datetimeFigureOut">
              <a:rPr lang="en-US" smtClean="0"/>
              <a:t>14-Feb-21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07147E-B2A8-46A8-B074-924A07A977C5}" type="slidenum">
              <a:rPr lang="en-US" smtClean="0"/>
              <a:t>‹#›</a:t>
            </a:fld>
            <a:endParaRPr lang="en-US"/>
          </a:p>
        </p:txBody>
      </p:sp>
    </p:spTree>
    <p:extLst>
      <p:ext uri="{BB962C8B-B14F-4D97-AF65-F5344CB8AC3E}">
        <p14:creationId xmlns:p14="http://schemas.microsoft.com/office/powerpoint/2010/main" val="4016402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189789A-5C48-4ABC-9709-2AE449369026}" type="datetimeFigureOut">
              <a:rPr lang="en-US" smtClean="0"/>
              <a:t>14-Feb-21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07147E-B2A8-46A8-B074-924A07A977C5}" type="slidenum">
              <a:rPr lang="en-US" smtClean="0"/>
              <a:t>‹#›</a:t>
            </a:fld>
            <a:endParaRPr lang="en-US"/>
          </a:p>
        </p:txBody>
      </p:sp>
    </p:spTree>
    <p:extLst>
      <p:ext uri="{BB962C8B-B14F-4D97-AF65-F5344CB8AC3E}">
        <p14:creationId xmlns:p14="http://schemas.microsoft.com/office/powerpoint/2010/main" val="4261384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189789A-5C48-4ABC-9709-2AE449369026}" type="datetimeFigureOut">
              <a:rPr lang="en-US" smtClean="0"/>
              <a:t>14-Feb-21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07147E-B2A8-46A8-B074-924A07A977C5}" type="slidenum">
              <a:rPr lang="en-US" smtClean="0"/>
              <a:t>‹#›</a:t>
            </a:fld>
            <a:endParaRPr lang="en-US"/>
          </a:p>
        </p:txBody>
      </p:sp>
    </p:spTree>
    <p:extLst>
      <p:ext uri="{BB962C8B-B14F-4D97-AF65-F5344CB8AC3E}">
        <p14:creationId xmlns:p14="http://schemas.microsoft.com/office/powerpoint/2010/main" val="1216189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189789A-5C48-4ABC-9709-2AE449369026}" type="datetimeFigureOut">
              <a:rPr lang="en-US" smtClean="0"/>
              <a:t>14-Feb-21</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3807147E-B2A8-46A8-B074-924A07A977C5}" type="slidenum">
              <a:rPr lang="en-US" smtClean="0"/>
              <a:t>‹#›</a:t>
            </a:fld>
            <a:endParaRPr lang="en-US"/>
          </a:p>
        </p:txBody>
      </p:sp>
    </p:spTree>
    <p:extLst>
      <p:ext uri="{BB962C8B-B14F-4D97-AF65-F5344CB8AC3E}">
        <p14:creationId xmlns:p14="http://schemas.microsoft.com/office/powerpoint/2010/main" val="1263417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189789A-5C48-4ABC-9709-2AE449369026}" type="datetimeFigureOut">
              <a:rPr lang="en-US" smtClean="0"/>
              <a:t>14-Feb-21</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3807147E-B2A8-46A8-B074-924A07A977C5}" type="slidenum">
              <a:rPr lang="en-US" smtClean="0"/>
              <a:t>‹#›</a:t>
            </a:fld>
            <a:endParaRPr lang="en-US"/>
          </a:p>
        </p:txBody>
      </p:sp>
    </p:spTree>
    <p:extLst>
      <p:ext uri="{BB962C8B-B14F-4D97-AF65-F5344CB8AC3E}">
        <p14:creationId xmlns:p14="http://schemas.microsoft.com/office/powerpoint/2010/main" val="733186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F189789A-5C48-4ABC-9709-2AE449369026}" type="datetimeFigureOut">
              <a:rPr lang="en-US" smtClean="0"/>
              <a:t>14-Feb-21</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3807147E-B2A8-46A8-B074-924A07A977C5}" type="slidenum">
              <a:rPr lang="en-US" smtClean="0"/>
              <a:t>‹#›</a:t>
            </a:fld>
            <a:endParaRPr lang="en-US"/>
          </a:p>
        </p:txBody>
      </p:sp>
    </p:spTree>
    <p:extLst>
      <p:ext uri="{BB962C8B-B14F-4D97-AF65-F5344CB8AC3E}">
        <p14:creationId xmlns:p14="http://schemas.microsoft.com/office/powerpoint/2010/main" val="102062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89789A-5C48-4ABC-9709-2AE449369026}" type="datetimeFigureOut">
              <a:rPr lang="en-US" smtClean="0"/>
              <a:t>14-Feb-21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07147E-B2A8-46A8-B074-924A07A977C5}" type="slidenum">
              <a:rPr lang="en-US" smtClean="0"/>
              <a:t>‹#›</a:t>
            </a:fld>
            <a:endParaRPr lang="en-US"/>
          </a:p>
        </p:txBody>
      </p:sp>
    </p:spTree>
    <p:extLst>
      <p:ext uri="{BB962C8B-B14F-4D97-AF65-F5344CB8AC3E}">
        <p14:creationId xmlns:p14="http://schemas.microsoft.com/office/powerpoint/2010/main" val="828586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89789A-5C48-4ABC-9709-2AE449369026}" type="datetimeFigureOut">
              <a:rPr lang="en-US" smtClean="0"/>
              <a:t>14-Feb-21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07147E-B2A8-46A8-B074-924A07A977C5}" type="slidenum">
              <a:rPr lang="en-US" smtClean="0"/>
              <a:t>‹#›</a:t>
            </a:fld>
            <a:endParaRPr lang="en-US"/>
          </a:p>
        </p:txBody>
      </p:sp>
    </p:spTree>
    <p:extLst>
      <p:ext uri="{BB962C8B-B14F-4D97-AF65-F5344CB8AC3E}">
        <p14:creationId xmlns:p14="http://schemas.microsoft.com/office/powerpoint/2010/main" val="1867913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189789A-5C48-4ABC-9709-2AE449369026}" type="datetimeFigureOut">
              <a:rPr lang="en-US" smtClean="0"/>
              <a:t>14-Feb-21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07147E-B2A8-46A8-B074-924A07A977C5}" type="slidenum">
              <a:rPr lang="en-US" smtClean="0"/>
              <a:t>‹#›</a:t>
            </a:fld>
            <a:endParaRPr lang="en-US"/>
          </a:p>
        </p:txBody>
      </p:sp>
    </p:spTree>
    <p:extLst>
      <p:ext uri="{BB962C8B-B14F-4D97-AF65-F5344CB8AC3E}">
        <p14:creationId xmlns:p14="http://schemas.microsoft.com/office/powerpoint/2010/main" val="2555870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189789A-5C48-4ABC-9709-2AE449369026}" type="datetimeFigureOut">
              <a:rPr lang="en-US" smtClean="0"/>
              <a:t>14-Feb-21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07147E-B2A8-46A8-B074-924A07A977C5}"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8978527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89789A-5C48-4ABC-9709-2AE449369026}" type="datetimeFigureOut">
              <a:rPr lang="en-US" smtClean="0"/>
              <a:t>14-Feb-21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07147E-B2A8-46A8-B074-924A07A977C5}" type="slidenum">
              <a:rPr lang="en-US" smtClean="0"/>
              <a:t>‹#›</a:t>
            </a:fld>
            <a:endParaRPr lang="en-US"/>
          </a:p>
        </p:txBody>
      </p:sp>
    </p:spTree>
    <p:extLst>
      <p:ext uri="{BB962C8B-B14F-4D97-AF65-F5344CB8AC3E}">
        <p14:creationId xmlns:p14="http://schemas.microsoft.com/office/powerpoint/2010/main" val="38692744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189789A-5C48-4ABC-9709-2AE449369026}" type="datetimeFigureOut">
              <a:rPr lang="en-US" smtClean="0"/>
              <a:t>14-Feb-21</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07147E-B2A8-46A8-B074-924A07A977C5}" type="slidenum">
              <a:rPr lang="en-US" smtClean="0"/>
              <a:t>‹#›</a:t>
            </a:fld>
            <a:endParaRPr lang="en-US"/>
          </a:p>
        </p:txBody>
      </p:sp>
    </p:spTree>
    <p:extLst>
      <p:ext uri="{BB962C8B-B14F-4D97-AF65-F5344CB8AC3E}">
        <p14:creationId xmlns:p14="http://schemas.microsoft.com/office/powerpoint/2010/main" val="10366777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189789A-5C48-4ABC-9709-2AE449369026}" type="datetimeFigureOut">
              <a:rPr lang="en-US" smtClean="0"/>
              <a:t>14-Feb-21</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07147E-B2A8-46A8-B074-924A07A977C5}" type="slidenum">
              <a:rPr lang="en-US" smtClean="0"/>
              <a:t>‹#›</a:t>
            </a:fld>
            <a:endParaRPr lang="en-US"/>
          </a:p>
        </p:txBody>
      </p:sp>
    </p:spTree>
    <p:extLst>
      <p:ext uri="{BB962C8B-B14F-4D97-AF65-F5344CB8AC3E}">
        <p14:creationId xmlns:p14="http://schemas.microsoft.com/office/powerpoint/2010/main" val="8138199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89789A-5C48-4ABC-9709-2AE449369026}" type="datetimeFigureOut">
              <a:rPr lang="en-US" smtClean="0"/>
              <a:t>14-Feb-21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07147E-B2A8-46A8-B074-924A07A977C5}" type="slidenum">
              <a:rPr lang="en-US" smtClean="0"/>
              <a:t>‹#›</a:t>
            </a:fld>
            <a:endParaRPr lang="en-US"/>
          </a:p>
        </p:txBody>
      </p:sp>
    </p:spTree>
    <p:extLst>
      <p:ext uri="{BB962C8B-B14F-4D97-AF65-F5344CB8AC3E}">
        <p14:creationId xmlns:p14="http://schemas.microsoft.com/office/powerpoint/2010/main" val="6570354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89789A-5C48-4ABC-9709-2AE449369026}" type="datetimeFigureOut">
              <a:rPr lang="en-US" smtClean="0"/>
              <a:t>14-Feb-21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07147E-B2A8-46A8-B074-924A07A977C5}" type="slidenum">
              <a:rPr lang="en-US" smtClean="0"/>
              <a:t>‹#›</a:t>
            </a:fld>
            <a:endParaRPr lang="en-US"/>
          </a:p>
        </p:txBody>
      </p:sp>
    </p:spTree>
    <p:extLst>
      <p:ext uri="{BB962C8B-B14F-4D97-AF65-F5344CB8AC3E}">
        <p14:creationId xmlns:p14="http://schemas.microsoft.com/office/powerpoint/2010/main" val="3113057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189789A-5C48-4ABC-9709-2AE449369026}" type="datetimeFigureOut">
              <a:rPr lang="en-US" smtClean="0"/>
              <a:t>14-Feb-21</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807147E-B2A8-46A8-B074-924A07A977C5}" type="slidenum">
              <a:rPr lang="en-US" smtClean="0"/>
              <a:t>‹#›</a:t>
            </a:fld>
            <a:endParaRPr lang="en-US"/>
          </a:p>
        </p:txBody>
      </p:sp>
    </p:spTree>
    <p:extLst>
      <p:ext uri="{BB962C8B-B14F-4D97-AF65-F5344CB8AC3E}">
        <p14:creationId xmlns:p14="http://schemas.microsoft.com/office/powerpoint/2010/main" val="341048513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stratosphereips.org/datasets-ctu13" TargetMode="External"/><Relationship Id="rId2" Type="http://schemas.openxmlformats.org/officeDocument/2006/relationships/hyperlink" Target="https://www.unb.ca/cic/datasets/ids-2017.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439B9-BC42-4B98-BBAE-5C177FBA45F2}"/>
              </a:ext>
            </a:extLst>
          </p:cNvPr>
          <p:cNvSpPr>
            <a:spLocks noGrp="1"/>
          </p:cNvSpPr>
          <p:nvPr>
            <p:ph type="ctrTitle"/>
          </p:nvPr>
        </p:nvSpPr>
        <p:spPr>
          <a:xfrm>
            <a:off x="1318517" y="-657546"/>
            <a:ext cx="9144000" cy="3637052"/>
          </a:xfrm>
        </p:spPr>
        <p:txBody>
          <a:bodyPr/>
          <a:lstStyle/>
          <a:p>
            <a:r>
              <a:rPr lang="en-US" dirty="0"/>
              <a:t>Malicious Traffic Classification</a:t>
            </a:r>
          </a:p>
        </p:txBody>
      </p:sp>
      <p:sp>
        <p:nvSpPr>
          <p:cNvPr id="3" name="Subtitle 2">
            <a:extLst>
              <a:ext uri="{FF2B5EF4-FFF2-40B4-BE49-F238E27FC236}">
                <a16:creationId xmlns:a16="http://schemas.microsoft.com/office/drawing/2014/main" id="{9ACBDC17-D7EA-4FB2-952C-3FF80DC1E744}"/>
              </a:ext>
            </a:extLst>
          </p:cNvPr>
          <p:cNvSpPr>
            <a:spLocks noGrp="1"/>
          </p:cNvSpPr>
          <p:nvPr>
            <p:ph type="subTitle" idx="1"/>
          </p:nvPr>
        </p:nvSpPr>
        <p:spPr/>
        <p:txBody>
          <a:bodyPr/>
          <a:lstStyle/>
          <a:p>
            <a:r>
              <a:rPr lang="en-US" dirty="0"/>
              <a:t>ML assignment  for classifying cyber attacks based of network traffic attributes</a:t>
            </a:r>
          </a:p>
        </p:txBody>
      </p:sp>
    </p:spTree>
    <p:extLst>
      <p:ext uri="{BB962C8B-B14F-4D97-AF65-F5344CB8AC3E}">
        <p14:creationId xmlns:p14="http://schemas.microsoft.com/office/powerpoint/2010/main" val="1389678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CA987-59D8-4C9A-8048-D6627E6F90D1}"/>
              </a:ext>
            </a:extLst>
          </p:cNvPr>
          <p:cNvSpPr>
            <a:spLocks noGrp="1"/>
          </p:cNvSpPr>
          <p:nvPr>
            <p:ph type="title"/>
          </p:nvPr>
        </p:nvSpPr>
        <p:spPr>
          <a:xfrm>
            <a:off x="553644" y="0"/>
            <a:ext cx="9404723" cy="801384"/>
          </a:xfrm>
        </p:spPr>
        <p:txBody>
          <a:bodyPr/>
          <a:lstStyle/>
          <a:p>
            <a:r>
              <a:rPr lang="en-US" dirty="0"/>
              <a:t>A small addition to this assignment</a:t>
            </a:r>
          </a:p>
        </p:txBody>
      </p:sp>
      <p:sp>
        <p:nvSpPr>
          <p:cNvPr id="3" name="Content Placeholder 2">
            <a:extLst>
              <a:ext uri="{FF2B5EF4-FFF2-40B4-BE49-F238E27FC236}">
                <a16:creationId xmlns:a16="http://schemas.microsoft.com/office/drawing/2014/main" id="{E82452B0-E853-4997-BD08-0F8B275EF820}"/>
              </a:ext>
            </a:extLst>
          </p:cNvPr>
          <p:cNvSpPr>
            <a:spLocks noGrp="1"/>
          </p:cNvSpPr>
          <p:nvPr>
            <p:ph idx="1"/>
          </p:nvPr>
        </p:nvSpPr>
        <p:spPr>
          <a:xfrm>
            <a:off x="553644" y="933035"/>
            <a:ext cx="8946541" cy="4195481"/>
          </a:xfrm>
        </p:spPr>
        <p:txBody>
          <a:bodyPr/>
          <a:lstStyle/>
          <a:p>
            <a:r>
              <a:rPr lang="en-US" dirty="0"/>
              <a:t>At first this assignment was about classifying only malicious traffic</a:t>
            </a:r>
          </a:p>
          <a:p>
            <a:r>
              <a:rPr lang="en-US" dirty="0"/>
              <a:t>After conducting some experiments on the chosen data with those specific cyber attacks the classification task proved to be  easy </a:t>
            </a:r>
          </a:p>
          <a:p>
            <a:r>
              <a:rPr lang="en-US" dirty="0"/>
              <a:t>In order to have a complete solution to this task it was decided to add also normal traffic</a:t>
            </a:r>
          </a:p>
          <a:p>
            <a:r>
              <a:rPr lang="en-US" dirty="0"/>
              <a:t>The classification task with this addition is somehow more complicated as some malicious traffic were misclassified as normal .</a:t>
            </a:r>
          </a:p>
          <a:p>
            <a:r>
              <a:rPr lang="en-US" dirty="0"/>
              <a:t>With the above observation it made more sense to add normal traffic </a:t>
            </a:r>
          </a:p>
        </p:txBody>
      </p:sp>
    </p:spTree>
    <p:extLst>
      <p:ext uri="{BB962C8B-B14F-4D97-AF65-F5344CB8AC3E}">
        <p14:creationId xmlns:p14="http://schemas.microsoft.com/office/powerpoint/2010/main" val="1514214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6E21C-077A-4424-A8D0-68F528DD0A07}"/>
              </a:ext>
            </a:extLst>
          </p:cNvPr>
          <p:cNvSpPr>
            <a:spLocks noGrp="1"/>
          </p:cNvSpPr>
          <p:nvPr>
            <p:ph type="title"/>
          </p:nvPr>
        </p:nvSpPr>
        <p:spPr>
          <a:xfrm>
            <a:off x="645130" y="0"/>
            <a:ext cx="9404723" cy="718536"/>
          </a:xfrm>
        </p:spPr>
        <p:txBody>
          <a:bodyPr/>
          <a:lstStyle/>
          <a:p>
            <a:r>
              <a:rPr lang="en-US" dirty="0"/>
              <a:t>About network traffic flows</a:t>
            </a:r>
          </a:p>
        </p:txBody>
      </p:sp>
      <p:sp>
        <p:nvSpPr>
          <p:cNvPr id="3" name="Content Placeholder 2">
            <a:extLst>
              <a:ext uri="{FF2B5EF4-FFF2-40B4-BE49-F238E27FC236}">
                <a16:creationId xmlns:a16="http://schemas.microsoft.com/office/drawing/2014/main" id="{66CC0A84-E3AA-49DA-8C19-9FBC0C2B8354}"/>
              </a:ext>
            </a:extLst>
          </p:cNvPr>
          <p:cNvSpPr>
            <a:spLocks noGrp="1"/>
          </p:cNvSpPr>
          <p:nvPr>
            <p:ph idx="1"/>
          </p:nvPr>
        </p:nvSpPr>
        <p:spPr>
          <a:xfrm>
            <a:off x="645130" y="922762"/>
            <a:ext cx="8946541" cy="5149266"/>
          </a:xfrm>
        </p:spPr>
        <p:txBody>
          <a:bodyPr/>
          <a:lstStyle/>
          <a:p>
            <a:r>
              <a:rPr lang="en-US" dirty="0"/>
              <a:t>A flow is a  bi-directional stream of network packets</a:t>
            </a:r>
          </a:p>
          <a:p>
            <a:r>
              <a:rPr lang="en-US" dirty="0"/>
              <a:t>It has a source and destination IP address ,their corresponding ports and the protocol it is used for transmission</a:t>
            </a:r>
          </a:p>
          <a:p>
            <a:r>
              <a:rPr lang="en-US" dirty="0"/>
              <a:t>Flows have many packet attributes to observe depending their direction (forward of backward) (some of them will be explained later)</a:t>
            </a:r>
          </a:p>
          <a:p>
            <a:r>
              <a:rPr lang="en-US" dirty="0"/>
              <a:t>Besides the forward and backward packet attributes a flow has a specific duration</a:t>
            </a:r>
          </a:p>
          <a:p>
            <a:r>
              <a:rPr lang="en-US" dirty="0"/>
              <a:t>In this classification task we hope to find features that differentiate normal traffic with malicious traffic and also differentiate the malicious traffic by their corresponding classes</a:t>
            </a:r>
          </a:p>
          <a:p>
            <a:r>
              <a:rPr lang="en-US" dirty="0"/>
              <a:t>All this information is captured by network interfaces and stored to </a:t>
            </a:r>
            <a:r>
              <a:rPr lang="en-US" dirty="0" err="1"/>
              <a:t>pcap</a:t>
            </a:r>
            <a:r>
              <a:rPr lang="en-US" dirty="0"/>
              <a:t> files(packet captures) using </a:t>
            </a:r>
            <a:r>
              <a:rPr lang="en-US" dirty="0" err="1"/>
              <a:t>wireshark</a:t>
            </a:r>
            <a:r>
              <a:rPr lang="en-US" dirty="0"/>
              <a:t> or </a:t>
            </a:r>
            <a:r>
              <a:rPr lang="en-US" dirty="0" err="1"/>
              <a:t>tcpdump</a:t>
            </a:r>
            <a:r>
              <a:rPr lang="en-US" dirty="0"/>
              <a:t>.</a:t>
            </a:r>
          </a:p>
          <a:p>
            <a:pPr marL="0" indent="0">
              <a:buNone/>
            </a:pPr>
            <a:endParaRPr lang="en-US" dirty="0"/>
          </a:p>
          <a:p>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538714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85D2E-43A5-4EB2-965A-34FFC4DE36FF}"/>
              </a:ext>
            </a:extLst>
          </p:cNvPr>
          <p:cNvSpPr>
            <a:spLocks noGrp="1"/>
          </p:cNvSpPr>
          <p:nvPr>
            <p:ph type="title"/>
          </p:nvPr>
        </p:nvSpPr>
        <p:spPr>
          <a:xfrm>
            <a:off x="481725" y="0"/>
            <a:ext cx="9404723" cy="1400530"/>
          </a:xfrm>
        </p:spPr>
        <p:txBody>
          <a:bodyPr/>
          <a:lstStyle/>
          <a:p>
            <a:r>
              <a:rPr lang="en-US" dirty="0"/>
              <a:t>Dataset sources</a:t>
            </a:r>
          </a:p>
        </p:txBody>
      </p:sp>
      <p:sp>
        <p:nvSpPr>
          <p:cNvPr id="3" name="Content Placeholder 2">
            <a:extLst>
              <a:ext uri="{FF2B5EF4-FFF2-40B4-BE49-F238E27FC236}">
                <a16:creationId xmlns:a16="http://schemas.microsoft.com/office/drawing/2014/main" id="{7097CCC9-D7BD-4E33-A967-DAC2F51B2502}"/>
              </a:ext>
            </a:extLst>
          </p:cNvPr>
          <p:cNvSpPr>
            <a:spLocks noGrp="1"/>
          </p:cNvSpPr>
          <p:nvPr>
            <p:ph idx="1"/>
          </p:nvPr>
        </p:nvSpPr>
        <p:spPr>
          <a:xfrm>
            <a:off x="481725" y="1487839"/>
            <a:ext cx="8946541" cy="4195481"/>
          </a:xfrm>
        </p:spPr>
        <p:txBody>
          <a:bodyPr/>
          <a:lstStyle/>
          <a:p>
            <a:r>
              <a:rPr lang="en-US" dirty="0"/>
              <a:t>Dataset from UNB (Canadian institute of Cybersecurity) </a:t>
            </a:r>
            <a:r>
              <a:rPr lang="en-US" dirty="0">
                <a:hlinkClick r:id="rId2"/>
              </a:rPr>
              <a:t>https://www.unb.ca/cic/datasets/ids-2017.html</a:t>
            </a:r>
            <a:endParaRPr lang="en-US" dirty="0"/>
          </a:p>
          <a:p>
            <a:endParaRPr lang="en-US" dirty="0"/>
          </a:p>
          <a:p>
            <a:endParaRPr lang="en-US" dirty="0"/>
          </a:p>
          <a:p>
            <a:pPr marL="0" indent="0">
              <a:buNone/>
            </a:pPr>
            <a:endParaRPr lang="en-US" dirty="0"/>
          </a:p>
          <a:p>
            <a:pPr marL="0" indent="0">
              <a:buNone/>
            </a:pPr>
            <a:endParaRPr lang="en-US" dirty="0"/>
          </a:p>
          <a:p>
            <a:r>
              <a:rPr lang="en-US" dirty="0"/>
              <a:t>Dataset from Stratosphere Lab </a:t>
            </a:r>
            <a:r>
              <a:rPr lang="en-US" dirty="0">
                <a:hlinkClick r:id="rId3"/>
              </a:rPr>
              <a:t>https://www.stratosphereips.org/datasets-ctu13</a:t>
            </a:r>
            <a:endParaRPr lang="en-US" dirty="0"/>
          </a:p>
          <a:p>
            <a:pPr marL="0" indent="0">
              <a:buNone/>
            </a:pPr>
            <a:endParaRPr lang="en-US" dirty="0"/>
          </a:p>
        </p:txBody>
      </p:sp>
    </p:spTree>
    <p:extLst>
      <p:ext uri="{BB962C8B-B14F-4D97-AF65-F5344CB8AC3E}">
        <p14:creationId xmlns:p14="http://schemas.microsoft.com/office/powerpoint/2010/main" val="3509658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A2552-35D4-44C3-A7DC-DA1DAD9D5720}"/>
              </a:ext>
            </a:extLst>
          </p:cNvPr>
          <p:cNvSpPr>
            <a:spLocks noGrp="1"/>
          </p:cNvSpPr>
          <p:nvPr>
            <p:ph type="title"/>
          </p:nvPr>
        </p:nvSpPr>
        <p:spPr>
          <a:xfrm>
            <a:off x="645130" y="93123"/>
            <a:ext cx="9404723" cy="1400530"/>
          </a:xfrm>
        </p:spPr>
        <p:txBody>
          <a:bodyPr/>
          <a:lstStyle/>
          <a:p>
            <a:r>
              <a:rPr lang="en-US" dirty="0"/>
              <a:t>Dataset processing 1</a:t>
            </a:r>
          </a:p>
        </p:txBody>
      </p:sp>
      <p:sp>
        <p:nvSpPr>
          <p:cNvPr id="3" name="Content Placeholder 2">
            <a:extLst>
              <a:ext uri="{FF2B5EF4-FFF2-40B4-BE49-F238E27FC236}">
                <a16:creationId xmlns:a16="http://schemas.microsoft.com/office/drawing/2014/main" id="{CC7B9039-4F11-4896-B45D-4CB047344D1F}"/>
              </a:ext>
            </a:extLst>
          </p:cNvPr>
          <p:cNvSpPr>
            <a:spLocks noGrp="1"/>
          </p:cNvSpPr>
          <p:nvPr>
            <p:ph idx="1"/>
          </p:nvPr>
        </p:nvSpPr>
        <p:spPr>
          <a:xfrm>
            <a:off x="645130" y="974132"/>
            <a:ext cx="8946541" cy="5642425"/>
          </a:xfrm>
        </p:spPr>
        <p:txBody>
          <a:bodyPr>
            <a:normAutofit/>
          </a:bodyPr>
          <a:lstStyle/>
          <a:p>
            <a:r>
              <a:rPr lang="en-US" dirty="0"/>
              <a:t>The tool used to extract features is </a:t>
            </a:r>
            <a:r>
              <a:rPr lang="en-US" dirty="0" err="1"/>
              <a:t>CICflowmeter</a:t>
            </a:r>
            <a:r>
              <a:rPr lang="en-US" dirty="0"/>
              <a:t> which is written in java and it can process raw </a:t>
            </a:r>
            <a:r>
              <a:rPr lang="en-US" dirty="0" err="1"/>
              <a:t>pcap</a:t>
            </a:r>
            <a:r>
              <a:rPr lang="en-US" dirty="0"/>
              <a:t> files (packet captures files) and outputs flow features in csv format.</a:t>
            </a:r>
          </a:p>
          <a:p>
            <a:r>
              <a:rPr lang="en-US" dirty="0"/>
              <a:t>The Canadian instate luckily provided some cyber attacks in this format but few were salvaged due to many errors in the dataset(unprintable characters , too many nan values, incorrect feature values (semi-broken </a:t>
            </a:r>
            <a:r>
              <a:rPr lang="en-US" dirty="0" err="1"/>
              <a:t>CICflow.meter</a:t>
            </a:r>
            <a:r>
              <a:rPr lang="en-US" dirty="0"/>
              <a:t> version). All these had to be cleaned with python scripts and manual processing with excel.</a:t>
            </a:r>
          </a:p>
          <a:p>
            <a:r>
              <a:rPr lang="en-US" dirty="0"/>
              <a:t>In some attacks I was forced to download the actual </a:t>
            </a:r>
            <a:r>
              <a:rPr lang="en-US" dirty="0" err="1"/>
              <a:t>pcap</a:t>
            </a:r>
            <a:r>
              <a:rPr lang="en-US" dirty="0"/>
              <a:t> format files , extract the specific flows with </a:t>
            </a:r>
            <a:r>
              <a:rPr lang="en-US" dirty="0" err="1"/>
              <a:t>tcpdump</a:t>
            </a:r>
            <a:r>
              <a:rPr lang="en-US" dirty="0"/>
              <a:t> (</a:t>
            </a:r>
            <a:r>
              <a:rPr lang="en-US" dirty="0" err="1"/>
              <a:t>linux</a:t>
            </a:r>
            <a:r>
              <a:rPr lang="en-US" dirty="0"/>
              <a:t> program) using the scenario description (</a:t>
            </a:r>
            <a:r>
              <a:rPr lang="en-US" dirty="0" err="1"/>
              <a:t>ip</a:t>
            </a:r>
            <a:r>
              <a:rPr lang="en-US" dirty="0"/>
              <a:t> of attacker and timestamp). After extracting flows in raw format </a:t>
            </a:r>
            <a:r>
              <a:rPr lang="en-US" dirty="0" err="1"/>
              <a:t>CICflowmeter</a:t>
            </a:r>
            <a:r>
              <a:rPr lang="en-US" dirty="0"/>
              <a:t> was used to get the desired csv format.</a:t>
            </a:r>
          </a:p>
          <a:p>
            <a:r>
              <a:rPr lang="en-US" dirty="0"/>
              <a:t>Another issue was that my </a:t>
            </a:r>
            <a:r>
              <a:rPr lang="en-US" dirty="0" err="1"/>
              <a:t>CICflowmeter</a:t>
            </a:r>
            <a:r>
              <a:rPr lang="en-US" dirty="0"/>
              <a:t> was newer that the one used in the downloaded dataset and had to merge them with python scripts.</a:t>
            </a:r>
          </a:p>
          <a:p>
            <a:endParaRPr lang="en-US" dirty="0"/>
          </a:p>
        </p:txBody>
      </p:sp>
    </p:spTree>
    <p:extLst>
      <p:ext uri="{BB962C8B-B14F-4D97-AF65-F5344CB8AC3E}">
        <p14:creationId xmlns:p14="http://schemas.microsoft.com/office/powerpoint/2010/main" val="2984403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15D84-7553-4E0A-80CD-B18B2763DBC0}"/>
              </a:ext>
            </a:extLst>
          </p:cNvPr>
          <p:cNvSpPr>
            <a:spLocks noGrp="1"/>
          </p:cNvSpPr>
          <p:nvPr>
            <p:ph type="title"/>
          </p:nvPr>
        </p:nvSpPr>
        <p:spPr>
          <a:xfrm>
            <a:off x="522821" y="82848"/>
            <a:ext cx="9404723" cy="1400530"/>
          </a:xfrm>
        </p:spPr>
        <p:txBody>
          <a:bodyPr/>
          <a:lstStyle/>
          <a:p>
            <a:r>
              <a:rPr lang="en-US" dirty="0"/>
              <a:t>Dataset processing 2</a:t>
            </a:r>
          </a:p>
        </p:txBody>
      </p:sp>
      <p:sp>
        <p:nvSpPr>
          <p:cNvPr id="3" name="Content Placeholder 2">
            <a:extLst>
              <a:ext uri="{FF2B5EF4-FFF2-40B4-BE49-F238E27FC236}">
                <a16:creationId xmlns:a16="http://schemas.microsoft.com/office/drawing/2014/main" id="{D00BA3BD-E71B-48F7-BA3D-2EBB31D42F91}"/>
              </a:ext>
            </a:extLst>
          </p:cNvPr>
          <p:cNvSpPr>
            <a:spLocks noGrp="1"/>
          </p:cNvSpPr>
          <p:nvPr>
            <p:ph idx="1"/>
          </p:nvPr>
        </p:nvSpPr>
        <p:spPr>
          <a:xfrm>
            <a:off x="394396" y="1189889"/>
            <a:ext cx="8946541" cy="4195481"/>
          </a:xfrm>
        </p:spPr>
        <p:txBody>
          <a:bodyPr/>
          <a:lstStyle/>
          <a:p>
            <a:r>
              <a:rPr lang="en-US" dirty="0"/>
              <a:t>From the stratosphere dataset raw </a:t>
            </a:r>
            <a:r>
              <a:rPr lang="en-US" dirty="0" err="1"/>
              <a:t>pcap</a:t>
            </a:r>
            <a:r>
              <a:rPr lang="en-US" dirty="0"/>
              <a:t> files were downloaded in order to extract more cyber attacks.</a:t>
            </a:r>
          </a:p>
          <a:p>
            <a:r>
              <a:rPr lang="en-US" dirty="0" err="1"/>
              <a:t>CICflowmeter</a:t>
            </a:r>
            <a:r>
              <a:rPr lang="en-US" dirty="0"/>
              <a:t> was used again to get csv formats</a:t>
            </a:r>
          </a:p>
          <a:p>
            <a:r>
              <a:rPr lang="en-US" dirty="0"/>
              <a:t>Any csv that was not downloaded from Canadian Institute had to be labeled manually using sed </a:t>
            </a:r>
            <a:r>
              <a:rPr lang="en-US" dirty="0" err="1"/>
              <a:t>linux</a:t>
            </a:r>
            <a:r>
              <a:rPr lang="en-US" dirty="0"/>
              <a:t> command (stream editor)</a:t>
            </a:r>
          </a:p>
          <a:p>
            <a:r>
              <a:rPr lang="en-US" dirty="0"/>
              <a:t>Some </a:t>
            </a:r>
            <a:r>
              <a:rPr lang="en-US" dirty="0" err="1"/>
              <a:t>pcap</a:t>
            </a:r>
            <a:r>
              <a:rPr lang="en-US" dirty="0"/>
              <a:t> files were corrupted so they had to be fixed using </a:t>
            </a:r>
            <a:r>
              <a:rPr lang="en-US" dirty="0" err="1"/>
              <a:t>pcap</a:t>
            </a:r>
            <a:r>
              <a:rPr lang="en-US" dirty="0"/>
              <a:t> fix (</a:t>
            </a:r>
            <a:r>
              <a:rPr lang="en-US" dirty="0" err="1"/>
              <a:t>linux</a:t>
            </a:r>
            <a:r>
              <a:rPr lang="en-US" dirty="0"/>
              <a:t> program).</a:t>
            </a:r>
          </a:p>
          <a:p>
            <a:r>
              <a:rPr lang="en-US" dirty="0" err="1"/>
              <a:t>CICflow</a:t>
            </a:r>
            <a:r>
              <a:rPr lang="en-US" dirty="0"/>
              <a:t> meter produces 80 features. Ip addresses , port numbers as they do not provide any information were removed.</a:t>
            </a:r>
          </a:p>
          <a:p>
            <a:pPr marL="0" indent="0">
              <a:buNone/>
            </a:pPr>
            <a:endParaRPr lang="en-US" dirty="0"/>
          </a:p>
        </p:txBody>
      </p:sp>
    </p:spTree>
    <p:extLst>
      <p:ext uri="{BB962C8B-B14F-4D97-AF65-F5344CB8AC3E}">
        <p14:creationId xmlns:p14="http://schemas.microsoft.com/office/powerpoint/2010/main" val="3906039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0EEB3-AF74-4E1F-99ED-121C2710687A}"/>
              </a:ext>
            </a:extLst>
          </p:cNvPr>
          <p:cNvSpPr>
            <a:spLocks noGrp="1"/>
          </p:cNvSpPr>
          <p:nvPr>
            <p:ph type="title"/>
          </p:nvPr>
        </p:nvSpPr>
        <p:spPr>
          <a:xfrm>
            <a:off x="563918" y="0"/>
            <a:ext cx="9404723" cy="1400530"/>
          </a:xfrm>
        </p:spPr>
        <p:txBody>
          <a:bodyPr/>
          <a:lstStyle/>
          <a:p>
            <a:r>
              <a:rPr lang="en-US" dirty="0"/>
              <a:t>Final Training Dataset</a:t>
            </a:r>
          </a:p>
        </p:txBody>
      </p:sp>
      <p:pic>
        <p:nvPicPr>
          <p:cNvPr id="5" name="Picture 4" descr="Graphical user interface, application&#10;&#10;Description automatically generated">
            <a:extLst>
              <a:ext uri="{FF2B5EF4-FFF2-40B4-BE49-F238E27FC236}">
                <a16:creationId xmlns:a16="http://schemas.microsoft.com/office/drawing/2014/main" id="{830D8859-1157-43F5-9955-692A16AAFB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4462" y="928687"/>
            <a:ext cx="9363075" cy="5000625"/>
          </a:xfrm>
          <a:prstGeom prst="rect">
            <a:avLst/>
          </a:prstGeom>
        </p:spPr>
      </p:pic>
    </p:spTree>
    <p:extLst>
      <p:ext uri="{BB962C8B-B14F-4D97-AF65-F5344CB8AC3E}">
        <p14:creationId xmlns:p14="http://schemas.microsoft.com/office/powerpoint/2010/main" val="542128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86E85-752F-4B03-9ADF-7E617339876C}"/>
              </a:ext>
            </a:extLst>
          </p:cNvPr>
          <p:cNvSpPr>
            <a:spLocks noGrp="1"/>
          </p:cNvSpPr>
          <p:nvPr>
            <p:ph type="title"/>
          </p:nvPr>
        </p:nvSpPr>
        <p:spPr>
          <a:xfrm>
            <a:off x="471451" y="82848"/>
            <a:ext cx="9404723" cy="1400530"/>
          </a:xfrm>
        </p:spPr>
        <p:txBody>
          <a:bodyPr/>
          <a:lstStyle/>
          <a:p>
            <a:r>
              <a:rPr lang="en-US"/>
              <a:t>Unseen Data</a:t>
            </a:r>
            <a:endParaRPr lang="en-US" dirty="0"/>
          </a:p>
        </p:txBody>
      </p:sp>
      <p:pic>
        <p:nvPicPr>
          <p:cNvPr id="5" name="Picture 4">
            <a:extLst>
              <a:ext uri="{FF2B5EF4-FFF2-40B4-BE49-F238E27FC236}">
                <a16:creationId xmlns:a16="http://schemas.microsoft.com/office/drawing/2014/main" id="{A02BD786-B12A-460F-BEAB-5FDF56BAB8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4462" y="928687"/>
            <a:ext cx="9363075" cy="5000625"/>
          </a:xfrm>
          <a:prstGeom prst="rect">
            <a:avLst/>
          </a:prstGeom>
        </p:spPr>
      </p:pic>
    </p:spTree>
    <p:extLst>
      <p:ext uri="{BB962C8B-B14F-4D97-AF65-F5344CB8AC3E}">
        <p14:creationId xmlns:p14="http://schemas.microsoft.com/office/powerpoint/2010/main" val="1508134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ACAE3-2447-4A9E-ACFE-B452F3A773AD}"/>
              </a:ext>
            </a:extLst>
          </p:cNvPr>
          <p:cNvSpPr>
            <a:spLocks noGrp="1"/>
          </p:cNvSpPr>
          <p:nvPr>
            <p:ph type="title"/>
          </p:nvPr>
        </p:nvSpPr>
        <p:spPr>
          <a:xfrm>
            <a:off x="317338" y="0"/>
            <a:ext cx="9404723" cy="1400530"/>
          </a:xfrm>
        </p:spPr>
        <p:txBody>
          <a:bodyPr/>
          <a:lstStyle/>
          <a:p>
            <a:r>
              <a:rPr lang="en-US" dirty="0"/>
              <a:t>Feature selection</a:t>
            </a:r>
          </a:p>
        </p:txBody>
      </p:sp>
      <p:sp>
        <p:nvSpPr>
          <p:cNvPr id="3" name="Content Placeholder 2">
            <a:extLst>
              <a:ext uri="{FF2B5EF4-FFF2-40B4-BE49-F238E27FC236}">
                <a16:creationId xmlns:a16="http://schemas.microsoft.com/office/drawing/2014/main" id="{ACEFCFDC-DB3F-414F-B335-4CE91934EEC4}"/>
              </a:ext>
            </a:extLst>
          </p:cNvPr>
          <p:cNvSpPr>
            <a:spLocks noGrp="1"/>
          </p:cNvSpPr>
          <p:nvPr>
            <p:ph idx="1"/>
          </p:nvPr>
        </p:nvSpPr>
        <p:spPr>
          <a:xfrm>
            <a:off x="317338" y="943309"/>
            <a:ext cx="8946541" cy="4195481"/>
          </a:xfrm>
        </p:spPr>
        <p:txBody>
          <a:bodyPr/>
          <a:lstStyle/>
          <a:p>
            <a:r>
              <a:rPr lang="en-US" dirty="0"/>
              <a:t>Some of the features had constant numbers or low variance and they were removed using </a:t>
            </a:r>
            <a:r>
              <a:rPr lang="en-US" dirty="0" err="1"/>
              <a:t>sklearn</a:t>
            </a:r>
            <a:r>
              <a:rPr lang="en-US" dirty="0"/>
              <a:t> </a:t>
            </a:r>
            <a:r>
              <a:rPr lang="en-US" dirty="0" err="1"/>
              <a:t>Variancethreshold</a:t>
            </a:r>
            <a:r>
              <a:rPr lang="en-US" dirty="0"/>
              <a:t> with threshold=0.2</a:t>
            </a:r>
          </a:p>
          <a:p>
            <a:pPr marL="0" indent="0">
              <a:buNone/>
            </a:pPr>
            <a:endParaRPr lang="en-US" dirty="0"/>
          </a:p>
          <a:p>
            <a:r>
              <a:rPr lang="en-US" dirty="0"/>
              <a:t>The remaining features were filtered by using a correlation matrix and any feature that had a correlation score above 0.4 was removed.</a:t>
            </a:r>
          </a:p>
          <a:p>
            <a:endParaRPr lang="en-US" dirty="0"/>
          </a:p>
          <a:p>
            <a:r>
              <a:rPr lang="en-US" dirty="0"/>
              <a:t>Finally 11 features were selected as we will see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094449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E32DC-8A75-4DAC-9BF6-30019511E8DB}"/>
              </a:ext>
            </a:extLst>
          </p:cNvPr>
          <p:cNvSpPr>
            <a:spLocks noGrp="1"/>
          </p:cNvSpPr>
          <p:nvPr>
            <p:ph type="title"/>
          </p:nvPr>
        </p:nvSpPr>
        <p:spPr>
          <a:xfrm>
            <a:off x="512547" y="0"/>
            <a:ext cx="9404723" cy="1400530"/>
          </a:xfrm>
        </p:spPr>
        <p:txBody>
          <a:bodyPr/>
          <a:lstStyle/>
          <a:p>
            <a:r>
              <a:rPr lang="en-US" dirty="0"/>
              <a:t>Final features 1/2</a:t>
            </a:r>
            <a:br>
              <a:rPr lang="en-US" dirty="0"/>
            </a:br>
            <a:r>
              <a:rPr lang="en-US" dirty="0"/>
              <a:t>(DDoS vs Normal)</a:t>
            </a:r>
          </a:p>
        </p:txBody>
      </p:sp>
      <p:pic>
        <p:nvPicPr>
          <p:cNvPr id="5" name="Picture 4" descr="Graphical user interface, diagram&#10;&#10;Description automatically generated">
            <a:extLst>
              <a:ext uri="{FF2B5EF4-FFF2-40B4-BE49-F238E27FC236}">
                <a16:creationId xmlns:a16="http://schemas.microsoft.com/office/drawing/2014/main" id="{EE724E92-64A6-4E5C-97DC-CFE3AC2050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9593" y="1623133"/>
            <a:ext cx="8839654" cy="4330923"/>
          </a:xfrm>
          <a:prstGeom prst="rect">
            <a:avLst/>
          </a:prstGeom>
        </p:spPr>
      </p:pic>
    </p:spTree>
    <p:extLst>
      <p:ext uri="{BB962C8B-B14F-4D97-AF65-F5344CB8AC3E}">
        <p14:creationId xmlns:p14="http://schemas.microsoft.com/office/powerpoint/2010/main" val="924449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7F481-AB6F-4BF8-B336-D46A74F97AA2}"/>
              </a:ext>
            </a:extLst>
          </p:cNvPr>
          <p:cNvSpPr>
            <a:spLocks noGrp="1"/>
          </p:cNvSpPr>
          <p:nvPr>
            <p:ph type="title"/>
          </p:nvPr>
        </p:nvSpPr>
        <p:spPr>
          <a:xfrm>
            <a:off x="409806" y="0"/>
            <a:ext cx="9404723" cy="1400530"/>
          </a:xfrm>
        </p:spPr>
        <p:txBody>
          <a:bodyPr/>
          <a:lstStyle/>
          <a:p>
            <a:r>
              <a:rPr lang="en-US" dirty="0"/>
              <a:t>Final features 2/2</a:t>
            </a:r>
            <a:br>
              <a:rPr lang="en-US" dirty="0"/>
            </a:br>
            <a:r>
              <a:rPr lang="en-US" dirty="0"/>
              <a:t>(DDoS vs Normal)</a:t>
            </a:r>
          </a:p>
        </p:txBody>
      </p:sp>
      <p:pic>
        <p:nvPicPr>
          <p:cNvPr id="5" name="Picture 4">
            <a:extLst>
              <a:ext uri="{FF2B5EF4-FFF2-40B4-BE49-F238E27FC236}">
                <a16:creationId xmlns:a16="http://schemas.microsoft.com/office/drawing/2014/main" id="{E9F71C78-1ED8-4B5C-99F0-C9095B83E7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3631" y="1400530"/>
            <a:ext cx="8858705" cy="4572235"/>
          </a:xfrm>
          <a:prstGeom prst="rect">
            <a:avLst/>
          </a:prstGeom>
        </p:spPr>
      </p:pic>
    </p:spTree>
    <p:extLst>
      <p:ext uri="{BB962C8B-B14F-4D97-AF65-F5344CB8AC3E}">
        <p14:creationId xmlns:p14="http://schemas.microsoft.com/office/powerpoint/2010/main" val="1637453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2A75C-9B12-489C-B746-4078C2CE32F3}"/>
              </a:ext>
            </a:extLst>
          </p:cNvPr>
          <p:cNvSpPr>
            <a:spLocks noGrp="1"/>
          </p:cNvSpPr>
          <p:nvPr>
            <p:ph type="title"/>
          </p:nvPr>
        </p:nvSpPr>
        <p:spPr>
          <a:xfrm>
            <a:off x="646111" y="452718"/>
            <a:ext cx="9404723" cy="821278"/>
          </a:xfrm>
        </p:spPr>
        <p:txBody>
          <a:bodyPr/>
          <a:lstStyle/>
          <a:p>
            <a:r>
              <a:rPr lang="en-US" dirty="0"/>
              <a:t>Tested Classifiers </a:t>
            </a:r>
          </a:p>
        </p:txBody>
      </p:sp>
      <p:sp>
        <p:nvSpPr>
          <p:cNvPr id="3" name="Content Placeholder 2">
            <a:extLst>
              <a:ext uri="{FF2B5EF4-FFF2-40B4-BE49-F238E27FC236}">
                <a16:creationId xmlns:a16="http://schemas.microsoft.com/office/drawing/2014/main" id="{E29857B5-3EDA-4BD7-917A-9C00BFA3E368}"/>
              </a:ext>
            </a:extLst>
          </p:cNvPr>
          <p:cNvSpPr>
            <a:spLocks noGrp="1"/>
          </p:cNvSpPr>
          <p:nvPr>
            <p:ph idx="1"/>
          </p:nvPr>
        </p:nvSpPr>
        <p:spPr>
          <a:xfrm>
            <a:off x="645130" y="1331259"/>
            <a:ext cx="8946541" cy="4195481"/>
          </a:xfrm>
        </p:spPr>
        <p:txBody>
          <a:bodyPr/>
          <a:lstStyle/>
          <a:p>
            <a:r>
              <a:rPr lang="en-US" dirty="0"/>
              <a:t>KNN</a:t>
            </a:r>
          </a:p>
          <a:p>
            <a:r>
              <a:rPr lang="en-US" dirty="0"/>
              <a:t>SVM</a:t>
            </a:r>
          </a:p>
          <a:p>
            <a:r>
              <a:rPr lang="en-US" dirty="0"/>
              <a:t>RANDOM FOREST</a:t>
            </a:r>
          </a:p>
          <a:p>
            <a:endParaRPr lang="en-US" dirty="0"/>
          </a:p>
          <a:p>
            <a:r>
              <a:rPr lang="en-US" dirty="0"/>
              <a:t>Hyperparameters for each classifier were tuned using Randomized search for 3 folds and f1 scoring.</a:t>
            </a:r>
          </a:p>
          <a:p>
            <a:r>
              <a:rPr lang="en-US" dirty="0"/>
              <a:t>Stratified </a:t>
            </a:r>
            <a:r>
              <a:rPr lang="en-US" dirty="0" err="1"/>
              <a:t>Kfold</a:t>
            </a:r>
            <a:r>
              <a:rPr lang="en-US" dirty="0"/>
              <a:t> was used with 10 folds due to the highly </a:t>
            </a:r>
            <a:r>
              <a:rPr lang="en-US" dirty="0" err="1"/>
              <a:t>inbalanced</a:t>
            </a:r>
            <a:r>
              <a:rPr lang="en-US" dirty="0"/>
              <a:t> dataset with accuracy and f1 scoring </a:t>
            </a:r>
          </a:p>
          <a:p>
            <a:r>
              <a:rPr lang="en-US" dirty="0"/>
              <a:t>Accuracy is high due to the fact that Normal Traffic is classified correctly overall. So accuracy means nothing.</a:t>
            </a:r>
          </a:p>
        </p:txBody>
      </p:sp>
    </p:spTree>
    <p:extLst>
      <p:ext uri="{BB962C8B-B14F-4D97-AF65-F5344CB8AC3E}">
        <p14:creationId xmlns:p14="http://schemas.microsoft.com/office/powerpoint/2010/main" val="684468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5D89D-9AFD-4F20-9526-CE9314170DAB}"/>
              </a:ext>
            </a:extLst>
          </p:cNvPr>
          <p:cNvSpPr>
            <a:spLocks noGrp="1"/>
          </p:cNvSpPr>
          <p:nvPr>
            <p:ph type="title"/>
          </p:nvPr>
        </p:nvSpPr>
        <p:spPr>
          <a:xfrm>
            <a:off x="645130" y="0"/>
            <a:ext cx="9404723" cy="750013"/>
          </a:xfrm>
        </p:spPr>
        <p:txBody>
          <a:bodyPr/>
          <a:lstStyle/>
          <a:p>
            <a:r>
              <a:rPr lang="en-US" dirty="0"/>
              <a:t>Results KNN 1/3</a:t>
            </a:r>
          </a:p>
        </p:txBody>
      </p:sp>
      <p:sp>
        <p:nvSpPr>
          <p:cNvPr id="4" name="TextBox 3">
            <a:extLst>
              <a:ext uri="{FF2B5EF4-FFF2-40B4-BE49-F238E27FC236}">
                <a16:creationId xmlns:a16="http://schemas.microsoft.com/office/drawing/2014/main" id="{96215541-F150-42AD-AAEE-1C565B056FA7}"/>
              </a:ext>
            </a:extLst>
          </p:cNvPr>
          <p:cNvSpPr txBox="1"/>
          <p:nvPr/>
        </p:nvSpPr>
        <p:spPr>
          <a:xfrm>
            <a:off x="832207" y="1181528"/>
            <a:ext cx="3184989" cy="923330"/>
          </a:xfrm>
          <a:prstGeom prst="rect">
            <a:avLst/>
          </a:prstGeom>
          <a:noFill/>
        </p:spPr>
        <p:txBody>
          <a:bodyPr wrap="square" rtlCol="0">
            <a:spAutoFit/>
          </a:bodyPr>
          <a:lstStyle/>
          <a:p>
            <a:r>
              <a:rPr lang="en-US" dirty="0"/>
              <a:t>Training:</a:t>
            </a:r>
          </a:p>
          <a:p>
            <a:r>
              <a:rPr lang="en-US" dirty="0"/>
              <a:t>Accuracy:99%</a:t>
            </a:r>
          </a:p>
          <a:p>
            <a:r>
              <a:rPr lang="en-US" dirty="0"/>
              <a:t>F1 score:95%</a:t>
            </a:r>
          </a:p>
        </p:txBody>
      </p:sp>
      <p:sp>
        <p:nvSpPr>
          <p:cNvPr id="5" name="TextBox 4">
            <a:extLst>
              <a:ext uri="{FF2B5EF4-FFF2-40B4-BE49-F238E27FC236}">
                <a16:creationId xmlns:a16="http://schemas.microsoft.com/office/drawing/2014/main" id="{CE2ADD35-DD75-40D6-9D81-8ACD5A3F91B9}"/>
              </a:ext>
            </a:extLst>
          </p:cNvPr>
          <p:cNvSpPr txBox="1"/>
          <p:nvPr/>
        </p:nvSpPr>
        <p:spPr>
          <a:xfrm>
            <a:off x="832206" y="2104858"/>
            <a:ext cx="3184989" cy="923330"/>
          </a:xfrm>
          <a:prstGeom prst="rect">
            <a:avLst/>
          </a:prstGeom>
          <a:noFill/>
        </p:spPr>
        <p:txBody>
          <a:bodyPr wrap="square" rtlCol="0">
            <a:spAutoFit/>
          </a:bodyPr>
          <a:lstStyle/>
          <a:p>
            <a:r>
              <a:rPr lang="en-US" dirty="0"/>
              <a:t>Testing:</a:t>
            </a:r>
          </a:p>
          <a:p>
            <a:r>
              <a:rPr lang="en-US" dirty="0"/>
              <a:t>Accuracy:98%</a:t>
            </a:r>
          </a:p>
          <a:p>
            <a:r>
              <a:rPr lang="en-US" dirty="0"/>
              <a:t>F1 score:86%</a:t>
            </a:r>
          </a:p>
        </p:txBody>
      </p:sp>
      <p:pic>
        <p:nvPicPr>
          <p:cNvPr id="7" name="Picture 6" descr="Chart, line chart&#10;&#10;Description automatically generated">
            <a:extLst>
              <a:ext uri="{FF2B5EF4-FFF2-40B4-BE49-F238E27FC236}">
                <a16:creationId xmlns:a16="http://schemas.microsoft.com/office/drawing/2014/main" id="{0DE33D53-F94D-41D2-9604-C332BEF96B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5410" y="1962150"/>
            <a:ext cx="6667500" cy="4762500"/>
          </a:xfrm>
          <a:prstGeom prst="rect">
            <a:avLst/>
          </a:prstGeom>
        </p:spPr>
      </p:pic>
      <p:sp>
        <p:nvSpPr>
          <p:cNvPr id="8" name="TextBox 7">
            <a:extLst>
              <a:ext uri="{FF2B5EF4-FFF2-40B4-BE49-F238E27FC236}">
                <a16:creationId xmlns:a16="http://schemas.microsoft.com/office/drawing/2014/main" id="{60808777-7C1D-411F-BFF8-C63B5699F30A}"/>
              </a:ext>
            </a:extLst>
          </p:cNvPr>
          <p:cNvSpPr txBox="1"/>
          <p:nvPr/>
        </p:nvSpPr>
        <p:spPr>
          <a:xfrm>
            <a:off x="5562493" y="1530635"/>
            <a:ext cx="2815119" cy="369332"/>
          </a:xfrm>
          <a:prstGeom prst="rect">
            <a:avLst/>
          </a:prstGeom>
          <a:noFill/>
        </p:spPr>
        <p:txBody>
          <a:bodyPr wrap="square" rtlCol="0">
            <a:spAutoFit/>
          </a:bodyPr>
          <a:lstStyle/>
          <a:p>
            <a:r>
              <a:rPr lang="en-US" dirty="0"/>
              <a:t>ROC curve</a:t>
            </a:r>
          </a:p>
        </p:txBody>
      </p:sp>
    </p:spTree>
    <p:extLst>
      <p:ext uri="{BB962C8B-B14F-4D97-AF65-F5344CB8AC3E}">
        <p14:creationId xmlns:p14="http://schemas.microsoft.com/office/powerpoint/2010/main" val="3519161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61A89-B03D-489F-932D-8AC6619845EE}"/>
              </a:ext>
            </a:extLst>
          </p:cNvPr>
          <p:cNvSpPr>
            <a:spLocks noGrp="1"/>
          </p:cNvSpPr>
          <p:nvPr>
            <p:ph type="title"/>
          </p:nvPr>
        </p:nvSpPr>
        <p:spPr>
          <a:xfrm>
            <a:off x="645130" y="0"/>
            <a:ext cx="9404723" cy="1400530"/>
          </a:xfrm>
        </p:spPr>
        <p:txBody>
          <a:bodyPr/>
          <a:lstStyle/>
          <a:p>
            <a:r>
              <a:rPr lang="en-US" dirty="0"/>
              <a:t>Results KNN 2/3</a:t>
            </a:r>
          </a:p>
        </p:txBody>
      </p:sp>
      <p:pic>
        <p:nvPicPr>
          <p:cNvPr id="5" name="Picture 4" descr="Chart, line chart&#10;&#10;Description automatically generated">
            <a:extLst>
              <a:ext uri="{FF2B5EF4-FFF2-40B4-BE49-F238E27FC236}">
                <a16:creationId xmlns:a16="http://schemas.microsoft.com/office/drawing/2014/main" id="{EE2A9CC0-8895-425B-919A-26779D6C6F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2250" y="1571732"/>
            <a:ext cx="6667500" cy="4762500"/>
          </a:xfrm>
          <a:prstGeom prst="rect">
            <a:avLst/>
          </a:prstGeom>
        </p:spPr>
      </p:pic>
      <p:sp>
        <p:nvSpPr>
          <p:cNvPr id="6" name="TextBox 5">
            <a:extLst>
              <a:ext uri="{FF2B5EF4-FFF2-40B4-BE49-F238E27FC236}">
                <a16:creationId xmlns:a16="http://schemas.microsoft.com/office/drawing/2014/main" id="{333EB575-DF4B-4CEB-B34F-302ED9AEF975}"/>
              </a:ext>
            </a:extLst>
          </p:cNvPr>
          <p:cNvSpPr txBox="1"/>
          <p:nvPr/>
        </p:nvSpPr>
        <p:spPr>
          <a:xfrm>
            <a:off x="4232953" y="914400"/>
            <a:ext cx="3996647" cy="369332"/>
          </a:xfrm>
          <a:prstGeom prst="rect">
            <a:avLst/>
          </a:prstGeom>
          <a:noFill/>
        </p:spPr>
        <p:txBody>
          <a:bodyPr wrap="square" rtlCol="0">
            <a:spAutoFit/>
          </a:bodyPr>
          <a:lstStyle/>
          <a:p>
            <a:r>
              <a:rPr lang="en-US" dirty="0"/>
              <a:t>Precision / Recall Curve</a:t>
            </a:r>
          </a:p>
        </p:txBody>
      </p:sp>
    </p:spTree>
    <p:extLst>
      <p:ext uri="{BB962C8B-B14F-4D97-AF65-F5344CB8AC3E}">
        <p14:creationId xmlns:p14="http://schemas.microsoft.com/office/powerpoint/2010/main" val="2089691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441DB-B0A6-4D80-9C58-8FA9643FC9C1}"/>
              </a:ext>
            </a:extLst>
          </p:cNvPr>
          <p:cNvSpPr>
            <a:spLocks noGrp="1"/>
          </p:cNvSpPr>
          <p:nvPr>
            <p:ph type="title"/>
          </p:nvPr>
        </p:nvSpPr>
        <p:spPr>
          <a:xfrm>
            <a:off x="645130" y="0"/>
            <a:ext cx="9404723" cy="780836"/>
          </a:xfrm>
        </p:spPr>
        <p:txBody>
          <a:bodyPr/>
          <a:lstStyle/>
          <a:p>
            <a:r>
              <a:rPr lang="en-US" dirty="0"/>
              <a:t>KNN results 3/3</a:t>
            </a:r>
          </a:p>
        </p:txBody>
      </p:sp>
      <p:pic>
        <p:nvPicPr>
          <p:cNvPr id="5" name="Picture 4" descr="A picture containing table&#10;&#10;Description automatically generated">
            <a:extLst>
              <a:ext uri="{FF2B5EF4-FFF2-40B4-BE49-F238E27FC236}">
                <a16:creationId xmlns:a16="http://schemas.microsoft.com/office/drawing/2014/main" id="{1FB79347-E2E9-4905-ADB7-5B714F3403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9484" y="1492150"/>
            <a:ext cx="6308224" cy="4487410"/>
          </a:xfrm>
          <a:prstGeom prst="rect">
            <a:avLst/>
          </a:prstGeom>
        </p:spPr>
      </p:pic>
      <p:sp>
        <p:nvSpPr>
          <p:cNvPr id="6" name="TextBox 5">
            <a:extLst>
              <a:ext uri="{FF2B5EF4-FFF2-40B4-BE49-F238E27FC236}">
                <a16:creationId xmlns:a16="http://schemas.microsoft.com/office/drawing/2014/main" id="{87E22B53-4E9D-4F40-BED2-0F1021FB7E48}"/>
              </a:ext>
            </a:extLst>
          </p:cNvPr>
          <p:cNvSpPr txBox="1"/>
          <p:nvPr/>
        </p:nvSpPr>
        <p:spPr>
          <a:xfrm>
            <a:off x="5347491" y="1100533"/>
            <a:ext cx="3503488" cy="369332"/>
          </a:xfrm>
          <a:prstGeom prst="rect">
            <a:avLst/>
          </a:prstGeom>
          <a:noFill/>
        </p:spPr>
        <p:txBody>
          <a:bodyPr wrap="square" rtlCol="0">
            <a:spAutoFit/>
          </a:bodyPr>
          <a:lstStyle/>
          <a:p>
            <a:r>
              <a:rPr lang="en-US" dirty="0"/>
              <a:t>Confusion Matrix</a:t>
            </a:r>
          </a:p>
        </p:txBody>
      </p:sp>
    </p:spTree>
    <p:extLst>
      <p:ext uri="{BB962C8B-B14F-4D97-AF65-F5344CB8AC3E}">
        <p14:creationId xmlns:p14="http://schemas.microsoft.com/office/powerpoint/2010/main" val="200397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5D89D-9AFD-4F20-9526-CE9314170DAB}"/>
              </a:ext>
            </a:extLst>
          </p:cNvPr>
          <p:cNvSpPr>
            <a:spLocks noGrp="1"/>
          </p:cNvSpPr>
          <p:nvPr>
            <p:ph type="title"/>
          </p:nvPr>
        </p:nvSpPr>
        <p:spPr>
          <a:xfrm>
            <a:off x="645130" y="0"/>
            <a:ext cx="9404723" cy="750013"/>
          </a:xfrm>
        </p:spPr>
        <p:txBody>
          <a:bodyPr/>
          <a:lstStyle/>
          <a:p>
            <a:r>
              <a:rPr lang="en-US" dirty="0"/>
              <a:t>Results SVM 1/3</a:t>
            </a:r>
          </a:p>
        </p:txBody>
      </p:sp>
      <p:sp>
        <p:nvSpPr>
          <p:cNvPr id="4" name="TextBox 3">
            <a:extLst>
              <a:ext uri="{FF2B5EF4-FFF2-40B4-BE49-F238E27FC236}">
                <a16:creationId xmlns:a16="http://schemas.microsoft.com/office/drawing/2014/main" id="{96215541-F150-42AD-AAEE-1C565B056FA7}"/>
              </a:ext>
            </a:extLst>
          </p:cNvPr>
          <p:cNvSpPr txBox="1"/>
          <p:nvPr/>
        </p:nvSpPr>
        <p:spPr>
          <a:xfrm>
            <a:off x="832207" y="1181528"/>
            <a:ext cx="3184989" cy="923330"/>
          </a:xfrm>
          <a:prstGeom prst="rect">
            <a:avLst/>
          </a:prstGeom>
          <a:noFill/>
        </p:spPr>
        <p:txBody>
          <a:bodyPr wrap="square" rtlCol="0">
            <a:spAutoFit/>
          </a:bodyPr>
          <a:lstStyle/>
          <a:p>
            <a:r>
              <a:rPr lang="en-US" dirty="0"/>
              <a:t>Training:</a:t>
            </a:r>
          </a:p>
          <a:p>
            <a:r>
              <a:rPr lang="en-US" dirty="0"/>
              <a:t>Accuracy:93,7%</a:t>
            </a:r>
          </a:p>
          <a:p>
            <a:r>
              <a:rPr lang="en-US" dirty="0"/>
              <a:t>F1 score:36,6%</a:t>
            </a:r>
          </a:p>
        </p:txBody>
      </p:sp>
      <p:sp>
        <p:nvSpPr>
          <p:cNvPr id="5" name="TextBox 4">
            <a:extLst>
              <a:ext uri="{FF2B5EF4-FFF2-40B4-BE49-F238E27FC236}">
                <a16:creationId xmlns:a16="http://schemas.microsoft.com/office/drawing/2014/main" id="{CE2ADD35-DD75-40D6-9D81-8ACD5A3F91B9}"/>
              </a:ext>
            </a:extLst>
          </p:cNvPr>
          <p:cNvSpPr txBox="1"/>
          <p:nvPr/>
        </p:nvSpPr>
        <p:spPr>
          <a:xfrm>
            <a:off x="832206" y="2104858"/>
            <a:ext cx="3184989" cy="923330"/>
          </a:xfrm>
          <a:prstGeom prst="rect">
            <a:avLst/>
          </a:prstGeom>
          <a:noFill/>
        </p:spPr>
        <p:txBody>
          <a:bodyPr wrap="square" rtlCol="0">
            <a:spAutoFit/>
          </a:bodyPr>
          <a:lstStyle/>
          <a:p>
            <a:r>
              <a:rPr lang="en-US" dirty="0"/>
              <a:t>Testing:</a:t>
            </a:r>
          </a:p>
          <a:p>
            <a:r>
              <a:rPr lang="en-US" dirty="0"/>
              <a:t>Accuracy:93,6%</a:t>
            </a:r>
          </a:p>
          <a:p>
            <a:r>
              <a:rPr lang="en-US" dirty="0"/>
              <a:t>F1 score:36%</a:t>
            </a:r>
          </a:p>
        </p:txBody>
      </p:sp>
      <p:sp>
        <p:nvSpPr>
          <p:cNvPr id="8" name="TextBox 7">
            <a:extLst>
              <a:ext uri="{FF2B5EF4-FFF2-40B4-BE49-F238E27FC236}">
                <a16:creationId xmlns:a16="http://schemas.microsoft.com/office/drawing/2014/main" id="{60808777-7C1D-411F-BFF8-C63B5699F30A}"/>
              </a:ext>
            </a:extLst>
          </p:cNvPr>
          <p:cNvSpPr txBox="1"/>
          <p:nvPr/>
        </p:nvSpPr>
        <p:spPr>
          <a:xfrm>
            <a:off x="5562493" y="1530635"/>
            <a:ext cx="2815119" cy="369332"/>
          </a:xfrm>
          <a:prstGeom prst="rect">
            <a:avLst/>
          </a:prstGeom>
          <a:noFill/>
        </p:spPr>
        <p:txBody>
          <a:bodyPr wrap="square" rtlCol="0">
            <a:spAutoFit/>
          </a:bodyPr>
          <a:lstStyle/>
          <a:p>
            <a:r>
              <a:rPr lang="en-US" dirty="0"/>
              <a:t>ROC curve</a:t>
            </a:r>
          </a:p>
        </p:txBody>
      </p:sp>
      <p:pic>
        <p:nvPicPr>
          <p:cNvPr id="6" name="Picture 5" descr="Chart, line chart&#10;&#10;Description automatically generated">
            <a:extLst>
              <a:ext uri="{FF2B5EF4-FFF2-40B4-BE49-F238E27FC236}">
                <a16:creationId xmlns:a16="http://schemas.microsoft.com/office/drawing/2014/main" id="{00A9EBC8-5825-4E59-906F-AF5FD613A3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2353" y="1899967"/>
            <a:ext cx="6667500" cy="4762500"/>
          </a:xfrm>
          <a:prstGeom prst="rect">
            <a:avLst/>
          </a:prstGeom>
        </p:spPr>
      </p:pic>
    </p:spTree>
    <p:extLst>
      <p:ext uri="{BB962C8B-B14F-4D97-AF65-F5344CB8AC3E}">
        <p14:creationId xmlns:p14="http://schemas.microsoft.com/office/powerpoint/2010/main" val="1033652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61A89-B03D-489F-932D-8AC6619845EE}"/>
              </a:ext>
            </a:extLst>
          </p:cNvPr>
          <p:cNvSpPr>
            <a:spLocks noGrp="1"/>
          </p:cNvSpPr>
          <p:nvPr>
            <p:ph type="title"/>
          </p:nvPr>
        </p:nvSpPr>
        <p:spPr>
          <a:xfrm>
            <a:off x="645130" y="0"/>
            <a:ext cx="9404723" cy="1400530"/>
          </a:xfrm>
        </p:spPr>
        <p:txBody>
          <a:bodyPr/>
          <a:lstStyle/>
          <a:p>
            <a:r>
              <a:rPr lang="en-US" dirty="0"/>
              <a:t>Results SVM 2/3</a:t>
            </a:r>
          </a:p>
        </p:txBody>
      </p:sp>
      <p:sp>
        <p:nvSpPr>
          <p:cNvPr id="6" name="TextBox 5">
            <a:extLst>
              <a:ext uri="{FF2B5EF4-FFF2-40B4-BE49-F238E27FC236}">
                <a16:creationId xmlns:a16="http://schemas.microsoft.com/office/drawing/2014/main" id="{333EB575-DF4B-4CEB-B34F-302ED9AEF975}"/>
              </a:ext>
            </a:extLst>
          </p:cNvPr>
          <p:cNvSpPr txBox="1"/>
          <p:nvPr/>
        </p:nvSpPr>
        <p:spPr>
          <a:xfrm>
            <a:off x="4232953" y="914400"/>
            <a:ext cx="3996647" cy="369332"/>
          </a:xfrm>
          <a:prstGeom prst="rect">
            <a:avLst/>
          </a:prstGeom>
          <a:noFill/>
        </p:spPr>
        <p:txBody>
          <a:bodyPr wrap="square" rtlCol="0">
            <a:spAutoFit/>
          </a:bodyPr>
          <a:lstStyle/>
          <a:p>
            <a:r>
              <a:rPr lang="en-US" dirty="0"/>
              <a:t>Precision / Recall Curve</a:t>
            </a:r>
          </a:p>
        </p:txBody>
      </p:sp>
      <p:pic>
        <p:nvPicPr>
          <p:cNvPr id="4" name="Picture 3" descr="Chart, line chart&#10;&#10;Description automatically generated">
            <a:extLst>
              <a:ext uri="{FF2B5EF4-FFF2-40B4-BE49-F238E27FC236}">
                <a16:creationId xmlns:a16="http://schemas.microsoft.com/office/drawing/2014/main" id="{47650A35-8FF7-4E28-964A-E922B6F1F3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8686" y="1352404"/>
            <a:ext cx="6667500" cy="4762500"/>
          </a:xfrm>
          <a:prstGeom prst="rect">
            <a:avLst/>
          </a:prstGeom>
        </p:spPr>
      </p:pic>
    </p:spTree>
    <p:extLst>
      <p:ext uri="{BB962C8B-B14F-4D97-AF65-F5344CB8AC3E}">
        <p14:creationId xmlns:p14="http://schemas.microsoft.com/office/powerpoint/2010/main" val="2655842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441DB-B0A6-4D80-9C58-8FA9643FC9C1}"/>
              </a:ext>
            </a:extLst>
          </p:cNvPr>
          <p:cNvSpPr>
            <a:spLocks noGrp="1"/>
          </p:cNvSpPr>
          <p:nvPr>
            <p:ph type="title"/>
          </p:nvPr>
        </p:nvSpPr>
        <p:spPr>
          <a:xfrm>
            <a:off x="645130" y="0"/>
            <a:ext cx="9404723" cy="780836"/>
          </a:xfrm>
        </p:spPr>
        <p:txBody>
          <a:bodyPr/>
          <a:lstStyle/>
          <a:p>
            <a:r>
              <a:rPr lang="en-US" dirty="0"/>
              <a:t>SVM results 3/3</a:t>
            </a:r>
          </a:p>
        </p:txBody>
      </p:sp>
      <p:sp>
        <p:nvSpPr>
          <p:cNvPr id="6" name="TextBox 5">
            <a:extLst>
              <a:ext uri="{FF2B5EF4-FFF2-40B4-BE49-F238E27FC236}">
                <a16:creationId xmlns:a16="http://schemas.microsoft.com/office/drawing/2014/main" id="{87E22B53-4E9D-4F40-BED2-0F1021FB7E48}"/>
              </a:ext>
            </a:extLst>
          </p:cNvPr>
          <p:cNvSpPr txBox="1"/>
          <p:nvPr/>
        </p:nvSpPr>
        <p:spPr>
          <a:xfrm>
            <a:off x="5347491" y="1100533"/>
            <a:ext cx="3503488" cy="369332"/>
          </a:xfrm>
          <a:prstGeom prst="rect">
            <a:avLst/>
          </a:prstGeom>
          <a:noFill/>
        </p:spPr>
        <p:txBody>
          <a:bodyPr wrap="square" rtlCol="0">
            <a:spAutoFit/>
          </a:bodyPr>
          <a:lstStyle/>
          <a:p>
            <a:r>
              <a:rPr lang="en-US" dirty="0"/>
              <a:t>Confusion Matrix</a:t>
            </a:r>
          </a:p>
        </p:txBody>
      </p:sp>
      <p:pic>
        <p:nvPicPr>
          <p:cNvPr id="4" name="Picture 3" descr="A picture containing graphical user interface&#10;&#10;Description automatically generated">
            <a:extLst>
              <a:ext uri="{FF2B5EF4-FFF2-40B4-BE49-F238E27FC236}">
                <a16:creationId xmlns:a16="http://schemas.microsoft.com/office/drawing/2014/main" id="{9DE43A43-FAC9-4328-A190-050CE8A34F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8060" y="1523902"/>
            <a:ext cx="5796762" cy="4383738"/>
          </a:xfrm>
          <a:prstGeom prst="rect">
            <a:avLst/>
          </a:prstGeom>
        </p:spPr>
      </p:pic>
    </p:spTree>
    <p:extLst>
      <p:ext uri="{BB962C8B-B14F-4D97-AF65-F5344CB8AC3E}">
        <p14:creationId xmlns:p14="http://schemas.microsoft.com/office/powerpoint/2010/main" val="3506702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5D89D-9AFD-4F20-9526-CE9314170DAB}"/>
              </a:ext>
            </a:extLst>
          </p:cNvPr>
          <p:cNvSpPr>
            <a:spLocks noGrp="1"/>
          </p:cNvSpPr>
          <p:nvPr>
            <p:ph type="title"/>
          </p:nvPr>
        </p:nvSpPr>
        <p:spPr>
          <a:xfrm>
            <a:off x="645130" y="0"/>
            <a:ext cx="9404723" cy="750013"/>
          </a:xfrm>
        </p:spPr>
        <p:txBody>
          <a:bodyPr/>
          <a:lstStyle/>
          <a:p>
            <a:r>
              <a:rPr lang="en-US" dirty="0"/>
              <a:t>Results Random Forest 1/3</a:t>
            </a:r>
          </a:p>
        </p:txBody>
      </p:sp>
      <p:sp>
        <p:nvSpPr>
          <p:cNvPr id="4" name="TextBox 3">
            <a:extLst>
              <a:ext uri="{FF2B5EF4-FFF2-40B4-BE49-F238E27FC236}">
                <a16:creationId xmlns:a16="http://schemas.microsoft.com/office/drawing/2014/main" id="{96215541-F150-42AD-AAEE-1C565B056FA7}"/>
              </a:ext>
            </a:extLst>
          </p:cNvPr>
          <p:cNvSpPr txBox="1"/>
          <p:nvPr/>
        </p:nvSpPr>
        <p:spPr>
          <a:xfrm>
            <a:off x="832207" y="1181528"/>
            <a:ext cx="3184989" cy="923330"/>
          </a:xfrm>
          <a:prstGeom prst="rect">
            <a:avLst/>
          </a:prstGeom>
          <a:noFill/>
        </p:spPr>
        <p:txBody>
          <a:bodyPr wrap="square" rtlCol="0">
            <a:spAutoFit/>
          </a:bodyPr>
          <a:lstStyle/>
          <a:p>
            <a:r>
              <a:rPr lang="en-US" dirty="0"/>
              <a:t>Training:</a:t>
            </a:r>
          </a:p>
          <a:p>
            <a:r>
              <a:rPr lang="en-US" dirty="0"/>
              <a:t>Accuracy:99%</a:t>
            </a:r>
          </a:p>
          <a:p>
            <a:r>
              <a:rPr lang="en-US" dirty="0"/>
              <a:t>F1 score:99%</a:t>
            </a:r>
          </a:p>
        </p:txBody>
      </p:sp>
      <p:sp>
        <p:nvSpPr>
          <p:cNvPr id="5" name="TextBox 4">
            <a:extLst>
              <a:ext uri="{FF2B5EF4-FFF2-40B4-BE49-F238E27FC236}">
                <a16:creationId xmlns:a16="http://schemas.microsoft.com/office/drawing/2014/main" id="{CE2ADD35-DD75-40D6-9D81-8ACD5A3F91B9}"/>
              </a:ext>
            </a:extLst>
          </p:cNvPr>
          <p:cNvSpPr txBox="1"/>
          <p:nvPr/>
        </p:nvSpPr>
        <p:spPr>
          <a:xfrm>
            <a:off x="832206" y="2104858"/>
            <a:ext cx="3184989" cy="923330"/>
          </a:xfrm>
          <a:prstGeom prst="rect">
            <a:avLst/>
          </a:prstGeom>
          <a:noFill/>
        </p:spPr>
        <p:txBody>
          <a:bodyPr wrap="square" rtlCol="0">
            <a:spAutoFit/>
          </a:bodyPr>
          <a:lstStyle/>
          <a:p>
            <a:r>
              <a:rPr lang="en-US" dirty="0"/>
              <a:t>Testing:</a:t>
            </a:r>
          </a:p>
          <a:p>
            <a:r>
              <a:rPr lang="en-US" dirty="0"/>
              <a:t>Accuracy:99%</a:t>
            </a:r>
          </a:p>
          <a:p>
            <a:r>
              <a:rPr lang="en-US" dirty="0"/>
              <a:t>F1 score:98%</a:t>
            </a:r>
          </a:p>
        </p:txBody>
      </p:sp>
      <p:sp>
        <p:nvSpPr>
          <p:cNvPr id="8" name="TextBox 7">
            <a:extLst>
              <a:ext uri="{FF2B5EF4-FFF2-40B4-BE49-F238E27FC236}">
                <a16:creationId xmlns:a16="http://schemas.microsoft.com/office/drawing/2014/main" id="{60808777-7C1D-411F-BFF8-C63B5699F30A}"/>
              </a:ext>
            </a:extLst>
          </p:cNvPr>
          <p:cNvSpPr txBox="1"/>
          <p:nvPr/>
        </p:nvSpPr>
        <p:spPr>
          <a:xfrm>
            <a:off x="5562493" y="1530635"/>
            <a:ext cx="2815119" cy="369332"/>
          </a:xfrm>
          <a:prstGeom prst="rect">
            <a:avLst/>
          </a:prstGeom>
          <a:noFill/>
        </p:spPr>
        <p:txBody>
          <a:bodyPr wrap="square" rtlCol="0">
            <a:spAutoFit/>
          </a:bodyPr>
          <a:lstStyle/>
          <a:p>
            <a:r>
              <a:rPr lang="en-US" dirty="0"/>
              <a:t>ROC curve</a:t>
            </a:r>
          </a:p>
        </p:txBody>
      </p:sp>
      <p:pic>
        <p:nvPicPr>
          <p:cNvPr id="7" name="Picture 6" descr="Chart, line chart, scatter chart&#10;&#10;Description automatically generated">
            <a:extLst>
              <a:ext uri="{FF2B5EF4-FFF2-40B4-BE49-F238E27FC236}">
                <a16:creationId xmlns:a16="http://schemas.microsoft.com/office/drawing/2014/main" id="{4A250F78-C6AA-40BA-B7F2-1DB4A37DE4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8282" y="1899967"/>
            <a:ext cx="6667500" cy="4762500"/>
          </a:xfrm>
          <a:prstGeom prst="rect">
            <a:avLst/>
          </a:prstGeom>
        </p:spPr>
      </p:pic>
    </p:spTree>
    <p:extLst>
      <p:ext uri="{BB962C8B-B14F-4D97-AF65-F5344CB8AC3E}">
        <p14:creationId xmlns:p14="http://schemas.microsoft.com/office/powerpoint/2010/main" val="11796631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61A89-B03D-489F-932D-8AC6619845EE}"/>
              </a:ext>
            </a:extLst>
          </p:cNvPr>
          <p:cNvSpPr>
            <a:spLocks noGrp="1"/>
          </p:cNvSpPr>
          <p:nvPr>
            <p:ph type="title"/>
          </p:nvPr>
        </p:nvSpPr>
        <p:spPr>
          <a:xfrm>
            <a:off x="645130" y="0"/>
            <a:ext cx="9404723" cy="1400530"/>
          </a:xfrm>
        </p:spPr>
        <p:txBody>
          <a:bodyPr/>
          <a:lstStyle/>
          <a:p>
            <a:r>
              <a:rPr lang="en-US" dirty="0"/>
              <a:t>Results Random Forest 2/3</a:t>
            </a:r>
          </a:p>
        </p:txBody>
      </p:sp>
      <p:sp>
        <p:nvSpPr>
          <p:cNvPr id="6" name="TextBox 5">
            <a:extLst>
              <a:ext uri="{FF2B5EF4-FFF2-40B4-BE49-F238E27FC236}">
                <a16:creationId xmlns:a16="http://schemas.microsoft.com/office/drawing/2014/main" id="{333EB575-DF4B-4CEB-B34F-302ED9AEF975}"/>
              </a:ext>
            </a:extLst>
          </p:cNvPr>
          <p:cNvSpPr txBox="1"/>
          <p:nvPr/>
        </p:nvSpPr>
        <p:spPr>
          <a:xfrm>
            <a:off x="4232953" y="914400"/>
            <a:ext cx="3996647" cy="369332"/>
          </a:xfrm>
          <a:prstGeom prst="rect">
            <a:avLst/>
          </a:prstGeom>
          <a:noFill/>
        </p:spPr>
        <p:txBody>
          <a:bodyPr wrap="square" rtlCol="0">
            <a:spAutoFit/>
          </a:bodyPr>
          <a:lstStyle/>
          <a:p>
            <a:r>
              <a:rPr lang="en-US" dirty="0"/>
              <a:t>Precision / Recall Curve</a:t>
            </a:r>
          </a:p>
        </p:txBody>
      </p:sp>
      <p:pic>
        <p:nvPicPr>
          <p:cNvPr id="5" name="Picture 4" descr="Chart, line chart&#10;&#10;Description automatically generated">
            <a:extLst>
              <a:ext uri="{FF2B5EF4-FFF2-40B4-BE49-F238E27FC236}">
                <a16:creationId xmlns:a16="http://schemas.microsoft.com/office/drawing/2014/main" id="{3421F11B-B154-4B51-B0D0-5D2577629D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2250" y="1400530"/>
            <a:ext cx="6667500" cy="4762500"/>
          </a:xfrm>
          <a:prstGeom prst="rect">
            <a:avLst/>
          </a:prstGeom>
        </p:spPr>
      </p:pic>
    </p:spTree>
    <p:extLst>
      <p:ext uri="{BB962C8B-B14F-4D97-AF65-F5344CB8AC3E}">
        <p14:creationId xmlns:p14="http://schemas.microsoft.com/office/powerpoint/2010/main" val="8588664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441DB-B0A6-4D80-9C58-8FA9643FC9C1}"/>
              </a:ext>
            </a:extLst>
          </p:cNvPr>
          <p:cNvSpPr>
            <a:spLocks noGrp="1"/>
          </p:cNvSpPr>
          <p:nvPr>
            <p:ph type="title"/>
          </p:nvPr>
        </p:nvSpPr>
        <p:spPr>
          <a:xfrm>
            <a:off x="645130" y="0"/>
            <a:ext cx="9404723" cy="780836"/>
          </a:xfrm>
        </p:spPr>
        <p:txBody>
          <a:bodyPr/>
          <a:lstStyle/>
          <a:p>
            <a:r>
              <a:rPr lang="en-US" dirty="0"/>
              <a:t>Results Random Forest 3/3</a:t>
            </a:r>
          </a:p>
        </p:txBody>
      </p:sp>
      <p:sp>
        <p:nvSpPr>
          <p:cNvPr id="6" name="TextBox 5">
            <a:extLst>
              <a:ext uri="{FF2B5EF4-FFF2-40B4-BE49-F238E27FC236}">
                <a16:creationId xmlns:a16="http://schemas.microsoft.com/office/drawing/2014/main" id="{87E22B53-4E9D-4F40-BED2-0F1021FB7E48}"/>
              </a:ext>
            </a:extLst>
          </p:cNvPr>
          <p:cNvSpPr txBox="1"/>
          <p:nvPr/>
        </p:nvSpPr>
        <p:spPr>
          <a:xfrm>
            <a:off x="5347491" y="1100533"/>
            <a:ext cx="3503488" cy="369332"/>
          </a:xfrm>
          <a:prstGeom prst="rect">
            <a:avLst/>
          </a:prstGeom>
          <a:noFill/>
        </p:spPr>
        <p:txBody>
          <a:bodyPr wrap="square" rtlCol="0">
            <a:spAutoFit/>
          </a:bodyPr>
          <a:lstStyle/>
          <a:p>
            <a:r>
              <a:rPr lang="en-US" dirty="0"/>
              <a:t>Confusion Matrix</a:t>
            </a:r>
          </a:p>
        </p:txBody>
      </p:sp>
      <p:pic>
        <p:nvPicPr>
          <p:cNvPr id="5" name="Picture 4" descr="Graphical user interface&#10;&#10;Description automatically generated with medium confidence">
            <a:extLst>
              <a:ext uri="{FF2B5EF4-FFF2-40B4-BE49-F238E27FC236}">
                <a16:creationId xmlns:a16="http://schemas.microsoft.com/office/drawing/2014/main" id="{E7E0CEE7-55FA-40E8-AD1F-C5C6E4A31C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7586" y="1511201"/>
            <a:ext cx="6146832" cy="4612197"/>
          </a:xfrm>
          <a:prstGeom prst="rect">
            <a:avLst/>
          </a:prstGeom>
        </p:spPr>
      </p:pic>
    </p:spTree>
    <p:extLst>
      <p:ext uri="{BB962C8B-B14F-4D97-AF65-F5344CB8AC3E}">
        <p14:creationId xmlns:p14="http://schemas.microsoft.com/office/powerpoint/2010/main" val="19818674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24802-D401-4DFF-9030-C660FDE0948A}"/>
              </a:ext>
            </a:extLst>
          </p:cNvPr>
          <p:cNvSpPr>
            <a:spLocks noGrp="1"/>
          </p:cNvSpPr>
          <p:nvPr>
            <p:ph type="title"/>
          </p:nvPr>
        </p:nvSpPr>
        <p:spPr>
          <a:xfrm>
            <a:off x="522821" y="0"/>
            <a:ext cx="9404723" cy="609601"/>
          </a:xfrm>
        </p:spPr>
        <p:txBody>
          <a:bodyPr/>
          <a:lstStyle/>
          <a:p>
            <a:r>
              <a:rPr lang="en-US" dirty="0"/>
              <a:t>Conclusions</a:t>
            </a:r>
          </a:p>
        </p:txBody>
      </p:sp>
      <p:sp>
        <p:nvSpPr>
          <p:cNvPr id="3" name="Content Placeholder 2">
            <a:extLst>
              <a:ext uri="{FF2B5EF4-FFF2-40B4-BE49-F238E27FC236}">
                <a16:creationId xmlns:a16="http://schemas.microsoft.com/office/drawing/2014/main" id="{975166A7-A9CB-4AFF-9E65-0DEA1E0C4CE4}"/>
              </a:ext>
            </a:extLst>
          </p:cNvPr>
          <p:cNvSpPr>
            <a:spLocks noGrp="1"/>
          </p:cNvSpPr>
          <p:nvPr>
            <p:ph idx="1"/>
          </p:nvPr>
        </p:nvSpPr>
        <p:spPr>
          <a:xfrm>
            <a:off x="522821" y="994680"/>
            <a:ext cx="8946541" cy="4195481"/>
          </a:xfrm>
        </p:spPr>
        <p:txBody>
          <a:bodyPr/>
          <a:lstStyle/>
          <a:p>
            <a:r>
              <a:rPr lang="en-US" dirty="0"/>
              <a:t>Random Forest was the best classifier in all cases , of course this performance can be achieved with this types of attacks, there are attacks that may not be easily separatable.</a:t>
            </a:r>
          </a:p>
          <a:p>
            <a:r>
              <a:rPr lang="en-US" dirty="0"/>
              <a:t>SVM performed very poorly besides DDoS</a:t>
            </a:r>
          </a:p>
          <a:p>
            <a:r>
              <a:rPr lang="en-US" dirty="0"/>
              <a:t>KNN had a decent performances besides Web Attack and SSH- </a:t>
            </a:r>
            <a:r>
              <a:rPr lang="en-US" dirty="0" err="1"/>
              <a:t>Patator</a:t>
            </a:r>
            <a:r>
              <a:rPr lang="en-US" dirty="0"/>
              <a:t>.</a:t>
            </a:r>
          </a:p>
          <a:p>
            <a:r>
              <a:rPr lang="en-US" dirty="0"/>
              <a:t>With further research we could potentially create an intrusion detecting system that also classifies the attacks. Classifying the attacks besides detecting it is essential for industry as the damage they can inflict differs from attack to attack.  </a:t>
            </a:r>
          </a:p>
          <a:p>
            <a:endParaRPr lang="en-US" dirty="0"/>
          </a:p>
        </p:txBody>
      </p:sp>
    </p:spTree>
    <p:extLst>
      <p:ext uri="{BB962C8B-B14F-4D97-AF65-F5344CB8AC3E}">
        <p14:creationId xmlns:p14="http://schemas.microsoft.com/office/powerpoint/2010/main" val="21514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261</TotalTime>
  <Words>862</Words>
  <Application>Microsoft Office PowerPoint</Application>
  <PresentationFormat>Widescreen</PresentationFormat>
  <Paragraphs>94</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Century Gothic</vt:lpstr>
      <vt:lpstr>Wingdings 3</vt:lpstr>
      <vt:lpstr>Ion</vt:lpstr>
      <vt:lpstr>Malicious Traffic Classification</vt:lpstr>
      <vt:lpstr>A small addition to this assignment</vt:lpstr>
      <vt:lpstr>About network traffic flows</vt:lpstr>
      <vt:lpstr>Dataset sources</vt:lpstr>
      <vt:lpstr>Dataset processing 1</vt:lpstr>
      <vt:lpstr>Dataset processing 2</vt:lpstr>
      <vt:lpstr>Final Training Dataset</vt:lpstr>
      <vt:lpstr>Unseen Data</vt:lpstr>
      <vt:lpstr>Feature selection</vt:lpstr>
      <vt:lpstr>Final features 1/2 (DDoS vs Normal)</vt:lpstr>
      <vt:lpstr>Final features 2/2 (DDoS vs Normal)</vt:lpstr>
      <vt:lpstr>Tested Classifiers </vt:lpstr>
      <vt:lpstr>Results KNN 1/3</vt:lpstr>
      <vt:lpstr>Results KNN 2/3</vt:lpstr>
      <vt:lpstr>KNN results 3/3</vt:lpstr>
      <vt:lpstr>Results SVM 1/3</vt:lpstr>
      <vt:lpstr>Results SVM 2/3</vt:lpstr>
      <vt:lpstr>SVM results 3/3</vt:lpstr>
      <vt:lpstr>Results Random Forest 1/3</vt:lpstr>
      <vt:lpstr>Results Random Forest 2/3</vt:lpstr>
      <vt:lpstr>Results Random Forest 3/3</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Malware Traffic Classification</dc:title>
  <dc:creator>Ανδρέας</dc:creator>
  <cp:lastModifiedBy>Ανδρέας</cp:lastModifiedBy>
  <cp:revision>32</cp:revision>
  <dcterms:created xsi:type="dcterms:W3CDTF">2021-02-13T19:39:09Z</dcterms:created>
  <dcterms:modified xsi:type="dcterms:W3CDTF">2021-02-14T18:52:35Z</dcterms:modified>
</cp:coreProperties>
</file>